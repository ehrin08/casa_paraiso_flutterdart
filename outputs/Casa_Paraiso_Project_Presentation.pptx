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e8f3ec44264215" /><Relationship Type="http://schemas.openxmlformats.org/officeDocument/2006/relationships/extended-properties" Target="/docProps/app.xml" Id="R53ff73b55600493a" /><Relationship Type="http://schemas.openxmlformats.org/officeDocument/2006/relationships/officeDocument" Target="/ppt/presentation.xml" Id="R06588312961c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f31765f534d67"/>
  </p:sldMasterIdLst>
  <p:notesMasterIdLst>
    <p:notesMasterId xmlns:r="http://schemas.openxmlformats.org/officeDocument/2006/relationships" r:id="Re41de4d9bc374c4b"/>
  </p:notesMasterIdLst>
  <p:sldIdLst>
    <p:sldId xmlns:r="http://schemas.openxmlformats.org/officeDocument/2006/relationships" id="256" r:id="Rdb09a748a8534d5d"/>
    <p:sldId xmlns:r="http://schemas.openxmlformats.org/officeDocument/2006/relationships" id="257" r:id="Ra8763ee6967d4b34"/>
    <p:sldId xmlns:r="http://schemas.openxmlformats.org/officeDocument/2006/relationships" id="258" r:id="R9311f73769094c96"/>
    <p:sldId xmlns:r="http://schemas.openxmlformats.org/officeDocument/2006/relationships" id="259" r:id="R3786d1ef14454ee8"/>
    <p:sldId xmlns:r="http://schemas.openxmlformats.org/officeDocument/2006/relationships" id="260" r:id="R079ae4fbccc34de0"/>
    <p:sldId xmlns:r="http://schemas.openxmlformats.org/officeDocument/2006/relationships" id="261" r:id="R69bfd52470a74304"/>
    <p:sldId xmlns:r="http://schemas.openxmlformats.org/officeDocument/2006/relationships" id="262" r:id="R55333f1443864315"/>
    <p:sldId xmlns:r="http://schemas.openxmlformats.org/officeDocument/2006/relationships" id="263" r:id="R7c93737263414968"/>
    <p:sldId xmlns:r="http://schemas.openxmlformats.org/officeDocument/2006/relationships" id="264" r:id="Ra57f0317dc6d44fa"/>
    <p:sldId xmlns:r="http://schemas.openxmlformats.org/officeDocument/2006/relationships" id="265" r:id="Rd9fd59dc07004a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542bbbe1644e0" /><Relationship Type="http://schemas.openxmlformats.org/officeDocument/2006/relationships/slideMaster" Target="/ppt/slideMasters/slideMaster1.xml" Id="R133f31765f534d67" /><Relationship Type="http://schemas.openxmlformats.org/officeDocument/2006/relationships/notesMaster" Target="/ppt/notesMasters/notesMaster1.xml" Id="Re41de4d9bc374c4b" /><Relationship Type="http://schemas.openxmlformats.org/officeDocument/2006/relationships/presProps" Target="/ppt/presProps.xml" Id="R4f341c0053b34c18" /><Relationship Type="http://schemas.openxmlformats.org/officeDocument/2006/relationships/tableStyles" Target="/ppt/tableStyles.xml" Id="R5801c51c0c0f4652" /><Relationship Type="http://schemas.openxmlformats.org/officeDocument/2006/relationships/slide" Target="/ppt/slides/slide1.xml" Id="Rdb09a748a8534d5d" /><Relationship Type="http://schemas.openxmlformats.org/officeDocument/2006/relationships/slide" Target="/ppt/slides/slide2.xml" Id="Ra8763ee6967d4b34" /><Relationship Type="http://schemas.openxmlformats.org/officeDocument/2006/relationships/slide" Target="/ppt/slides/slide3.xml" Id="R9311f73769094c96" /><Relationship Type="http://schemas.openxmlformats.org/officeDocument/2006/relationships/slide" Target="/ppt/slides/slide4.xml" Id="R3786d1ef14454ee8" /><Relationship Type="http://schemas.openxmlformats.org/officeDocument/2006/relationships/slide" Target="/ppt/slides/slide5.xml" Id="R079ae4fbccc34de0" /><Relationship Type="http://schemas.openxmlformats.org/officeDocument/2006/relationships/slide" Target="/ppt/slides/slide6.xml" Id="R69bfd52470a74304" /><Relationship Type="http://schemas.openxmlformats.org/officeDocument/2006/relationships/slide" Target="/ppt/slides/slide7.xml" Id="R55333f1443864315" /><Relationship Type="http://schemas.openxmlformats.org/officeDocument/2006/relationships/slide" Target="/ppt/slides/slide8.xml" Id="R7c93737263414968" /><Relationship Type="http://schemas.openxmlformats.org/officeDocument/2006/relationships/slide" Target="/ppt/slides/slide9.xml" Id="Ra57f0317dc6d44fa" /><Relationship Type="http://schemas.openxmlformats.org/officeDocument/2006/relationships/slide" Target="/ppt/slides/slide10.xml" Id="Rd9fd59dc0700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ddba24ef3a4b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7e2fb13a754576" /><Relationship Type="http://schemas.openxmlformats.org/officeDocument/2006/relationships/notesMaster" Target="/ppt/notesMasters/notesMaster1.xml" Id="R4adab46623c142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75423b96d4634" /><Relationship Type="http://schemas.openxmlformats.org/officeDocument/2006/relationships/notesMaster" Target="/ppt/notesMasters/notesMaster1.xml" Id="R015d2618606944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87282b7e74719" /><Relationship Type="http://schemas.openxmlformats.org/officeDocument/2006/relationships/notesMaster" Target="/ppt/notesMasters/notesMaster1.xml" Id="Re5961c576e7c4c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e257ad2e4d4c1d" /><Relationship Type="http://schemas.openxmlformats.org/officeDocument/2006/relationships/notesMaster" Target="/ppt/notesMasters/notesMaster1.xml" Id="R0103a692ba534d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ec3a38fa64423b" /><Relationship Type="http://schemas.openxmlformats.org/officeDocument/2006/relationships/notesMaster" Target="/ppt/notesMasters/notesMaster1.xml" Id="R5b189c183785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3edd4cfe504816" /><Relationship Type="http://schemas.openxmlformats.org/officeDocument/2006/relationships/notesMaster" Target="/ppt/notesMasters/notesMaster1.xml" Id="R80100a4ecb624f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36652e5f01405d" /><Relationship Type="http://schemas.openxmlformats.org/officeDocument/2006/relationships/notesMaster" Target="/ppt/notesMasters/notesMaster1.xml" Id="R936e966175da40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3a66fa9072496a" /><Relationship Type="http://schemas.openxmlformats.org/officeDocument/2006/relationships/notesMaster" Target="/ppt/notesMasters/notesMaster1.xml" Id="Ra709e8895d584c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b86b97fd914987" /><Relationship Type="http://schemas.openxmlformats.org/officeDocument/2006/relationships/notesMaster" Target="/ppt/notesMasters/notesMaster1.xml" Id="Ra731852b5de049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14388262bb47f8" /><Relationship Type="http://schemas.openxmlformats.org/officeDocument/2006/relationships/notesMaster" Target="/ppt/notesMasters/notesMaster1.xml" Id="R92cf80d5e2ea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a78ff703842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28aba6d8a34bca" /><Relationship Type="http://schemas.openxmlformats.org/officeDocument/2006/relationships/slideLayout" Target="/ppt/slideLayouts/slideLayout1.xml" Id="R02839175dfed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839175dfed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6d82ca6c7485b" /><Relationship Type="http://schemas.openxmlformats.org/officeDocument/2006/relationships/image" Target="/ppt/media/image.jpeg" Id="Ra953a5fa095d4c53" /><Relationship Type="http://schemas.openxmlformats.org/officeDocument/2006/relationships/image" Target="/ppt/media/image2.jpeg" Id="Rd03a9564eb214e1d" /><Relationship Type="http://schemas.openxmlformats.org/officeDocument/2006/relationships/notesSlide" Target="/ppt/notesSlides/notesSlide1.xml" Id="Rf43cbe38faf543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21777ba8f4ac0" /><Relationship Type="http://schemas.openxmlformats.org/officeDocument/2006/relationships/image" Target="/ppt/media/image3.jpeg" Id="Rea7b725d8b504c4d" /><Relationship Type="http://schemas.openxmlformats.org/officeDocument/2006/relationships/notesSlide" Target="/ppt/notesSlides/notesSlide2.xml" Id="R9c12ec2e94f647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3d24568224546" /><Relationship Type="http://schemas.openxmlformats.org/officeDocument/2006/relationships/image" Target="/ppt/media/image4.jpeg" Id="R456aaba036e04a8f" /><Relationship Type="http://schemas.openxmlformats.org/officeDocument/2006/relationships/notesSlide" Target="/ppt/notesSlides/notesSlide3.xml" Id="Rdcebe79127e44b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b7192f1da4085" /><Relationship Type="http://schemas.openxmlformats.org/officeDocument/2006/relationships/notesSlide" Target="/ppt/notesSlides/notesSlide4.xml" Id="Rada07febd94a4a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d77cf6b7a4466" /><Relationship Type="http://schemas.openxmlformats.org/officeDocument/2006/relationships/notesSlide" Target="/ppt/notesSlides/notesSlide5.xml" Id="R0eec8ca19771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e326f20ab4800" /><Relationship Type="http://schemas.openxmlformats.org/officeDocument/2006/relationships/notesSlide" Target="/ppt/notesSlides/notesSlide6.xml" Id="Rfe22c66d05ec42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40011547242d2" /><Relationship Type="http://schemas.openxmlformats.org/officeDocument/2006/relationships/notesSlide" Target="/ppt/notesSlides/notesSlide7.xml" Id="Re0bd5c6dfa2a46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6b6e59aef4cee" /><Relationship Type="http://schemas.openxmlformats.org/officeDocument/2006/relationships/image" Target="/ppt/media/image5.jpeg" Id="R1989045770cc488d" /><Relationship Type="http://schemas.openxmlformats.org/officeDocument/2006/relationships/notesSlide" Target="/ppt/notesSlides/notesSlide8.xml" Id="R0c2f82f895c34d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0d32b64634213" /><Relationship Type="http://schemas.openxmlformats.org/officeDocument/2006/relationships/notesSlide" Target="/ppt/notesSlides/notesSlide9.xml" Id="R20c76d6eecc34d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4926a0be645ab" /><Relationship Type="http://schemas.openxmlformats.org/officeDocument/2006/relationships/notesSlide" Target="/ppt/notesSlides/notesSlide10.xml" Id="R987876f89be043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59AAC-E536-4D1D-91A4-1FFCCC55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3a5fa095d4c53"/>
          <a:srcRect xmlns:a="http://schemas.openxmlformats.org/drawingml/2006/main" l="2778" t="0" r="2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B1231-AF95-4520-ABB6-35DA35C4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B211B">
              <a:alpha val="53333"/>
            </a:srgbClr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a9564eb214e1d"/>
          <a:stretch xmlns:a="http://schemas.openxmlformats.org/drawingml/2006/main"/>
        </p:blipFill>
        <p:spPr>
          <a:xfrm xmlns:a="http://schemas.openxmlformats.org/drawingml/2006/main">
            <a:off x="1743075" y="533400"/>
            <a:ext cx="1028700" cy="102870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0045-CCCB-4546-96F9-41EC0C2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B211B"/>
                </a:solidFill>
              </a:defRPr>
            </a:pPr>
            <a:r>
              <a:rPr sz="3750" b="1">
                <a:solidFill>
                  <a:srgbClr val="2B211B"/>
                </a:solidFill>
              </a:rPr>
              <a:t>Spa service browsing</a:t>
            </a:r>
          </a:p>
          <a:p xmlns:a="http://schemas.openxmlformats.org/drawingml/2006/main">
            <a:pPr algn="l">
              <a:defRPr sz="3750" b="1">
                <a:solidFill>
                  <a:srgbClr val="2B211B"/>
                </a:solidFill>
              </a:defRPr>
            </a:pPr>
            <a:r>
              <a:rPr sz="3750" b="1">
                <a:solidFill>
                  <a:srgbClr val="2B211B"/>
                </a:solidFill>
              </a:rPr>
              <a:t>and appointment booking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1FA51-E3BC-47E0-9B03-2BFF8D8F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259"/>
                </a:solidFill>
              </a:defRPr>
            </a:pPr>
            <a:r>
              <a:rPr sz="1725" b="0">
                <a:solidFill>
                  <a:srgbClr val="6F6259"/>
                </a:solidFill>
              </a:rPr>
              <a:t>A warm tropical wellness experience translated into a dependable local-first Flutter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D5FD2-60BC-4E45-8E7B-9CD253EB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D45"/>
                </a:solidFill>
              </a:defRPr>
            </a:pPr>
            <a:r>
              <a:rPr sz="1125" b="1">
                <a:solidFill>
                  <a:srgbClr val="2F5D45"/>
                </a:solidFill>
              </a:rPr>
              <a:t>ANDROID + RESPONSIVE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C37FC-9052-412A-97B0-6049A57A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259"/>
                </a:solidFill>
              </a:defRPr>
            </a:pPr>
            <a:r>
              <a:rPr sz="1125" b="0">
                <a:solidFill>
                  <a:srgbClr val="6F6259"/>
                </a:solidFill>
              </a:rPr>
              <a:t>Academic Project · 2026</a:t>
            </a:r>
          </a:p>
        </p:txBody>
      </p:sp>
    </p:spTree>
    <p:extLst>
      <p:ext uri="{BB962C8B-B14F-4D97-AF65-F5344CB8AC3E}">
        <p14:creationId xmlns:p14="http://schemas.microsoft.com/office/powerpoint/2010/main" val="752914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CF68C-7F51-4E8C-A992-232AA800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61AF1-B029-4A0F-9F2F-2FB5C6E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Customers get a clear path from discovery to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F9211-B383-4685-8196-F9851CF0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66CB1-F4C4-4139-9AC2-A6C052E1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259"/>
                </a:solidFill>
              </a:defRPr>
            </a:pPr>
            <a:r>
              <a:rPr sz="1725" b="0">
                <a:solidFill>
                  <a:srgbClr val="6F6259"/>
                </a:solidFill>
              </a:rPr>
              <a:t>The application removes friction from service comparison and keeps each step reassuring, readable, and locally recoverable.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254A0-E79F-4CC8-AD77-0508C0BB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D3A48-D773-463C-B021-421D43DC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A3518"/>
                </a:solidFill>
              </a:defRPr>
            </a:pPr>
            <a:r>
              <a:rPr sz="1425" b="1">
                <a:solidFill>
                  <a:srgbClr val="7A3518"/>
                </a:solidFill>
              </a:rPr>
              <a:t>Browse without an account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5367A-7D30-43BF-9618-D296C737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Four packages explain price, duration, treatments, and extras.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CCF39-0A52-402D-A466-C385489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C0969-6B94-4D0D-ABCC-78E60C1B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D45"/>
                </a:solidFill>
              </a:defRPr>
            </a:pPr>
            <a:r>
              <a:rPr sz="1425" b="1">
                <a:solidFill>
                  <a:srgbClr val="2F5D45"/>
                </a:solidFill>
              </a:rPr>
              <a:t>Book in Manila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CB957-E08D-443D-98AB-7ECB6E94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814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Validated 30-minute slots respect duration, lead time, and local conflicts.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ADBE-244A-4921-B43F-363D2B0C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EA710-FA3F-4804-BE5D-23CD394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A3518"/>
                </a:solidFill>
              </a:defRPr>
            </a:pPr>
            <a:r>
              <a:rPr sz="1425" b="1">
                <a:solidFill>
                  <a:srgbClr val="7A3518"/>
                </a:solidFill>
              </a:rPr>
              <a:t>Manage plans locally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76D2E-F292-441B-96E3-4D9BCD70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Upcoming, completed, and cancelled records remain on the current device.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b725d8b504c4d"/>
          <a:stretch xmlns:a="http://schemas.openxmlformats.org/drawingml/2006/main"/>
        </p:blipFill>
        <p:spPr>
          <a:xfrm xmlns:a="http://schemas.openxmlformats.org/drawingml/2006/main">
            <a:off x="7508954" y="1466850"/>
            <a:ext cx="2203292" cy="4762500"/>
          </a:xfrm>
          <a:prstGeom xmlns:a="http://schemas.openxmlformats.org/drawingml/2006/main" prst="roundRect">
            <a:avLst>
              <a:gd name="adj" fmla="val 503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7E221-299A-4CC0-819D-FC23460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1123950" cy="23431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D4BD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7F6DF-7CEE-4184-9AF0-E3DD2CFE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343150"/>
            <a:ext cx="72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7A3518"/>
                </a:solidFill>
              </a:defRPr>
            </a:pPr>
            <a:r>
              <a:rPr sz="3900" b="1">
                <a:solidFill>
                  <a:srgbClr val="7A3518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E420F-9391-424E-A291-EAA5E26A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95625"/>
            <a:ext cx="97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B"/>
                </a:solidFill>
              </a:defRPr>
            </a:pPr>
            <a:r>
              <a:rPr sz="1125" b="1">
                <a:solidFill>
                  <a:srgbClr val="2B211B"/>
                </a:solidFill>
              </a:rPr>
              <a:t>navigation</a:t>
            </a:r>
          </a:p>
          <a:p xmlns:a="http://schemas.openxmlformats.org/drawingml/2006/main">
            <a:pPr algn="ctr">
              <a:defRPr sz="1125" b="1">
                <a:solidFill>
                  <a:srgbClr val="2B211B"/>
                </a:solidFill>
              </a:defRPr>
            </a:pPr>
            <a:r>
              <a:rPr sz="1125" b="1">
                <a:solidFill>
                  <a:srgbClr val="2B211B"/>
                </a:solidFill>
              </a:rPr>
              <a:t>areas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59CB4-011B-42A2-9FA4-95D3262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Casa Paraiso ·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1862161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AACF5-24A2-4802-AC25-925B9470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BRAND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93E66-3E78-41A3-9C22-AE5A0282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The interface carries the spa’s materials, warmth, and calm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C52A7-2411-486D-8562-31888B59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aaba036e04a8f"/>
          <a:srcRect xmlns:a="http://schemas.openxmlformats.org/drawingml/2006/main" l="0" t="11607" r="0" b="11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4000500" cy="40957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E5356-47DA-42ED-B8C0-D0A1A0F7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764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11B"/>
                </a:solidFill>
              </a:defRPr>
            </a:pPr>
            <a:r>
              <a:rPr sz="2250" b="1">
                <a:solidFill>
                  <a:srgbClr val="2B211B"/>
                </a:solidFill>
              </a:rPr>
              <a:t>Nature distilled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93F64-4A3A-46CD-B4A1-B2D8F496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259"/>
                </a:solidFill>
              </a:defRPr>
            </a:pPr>
            <a:r>
              <a:rPr sz="1500" b="0">
                <a:solidFill>
                  <a:srgbClr val="6F6259"/>
                </a:solidFill>
              </a:rPr>
              <a:t>Arched imagery, soft depth, natural spacing, and restrained motion make the booking experience feel premium without hiding operational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7D051-027A-4657-BF5B-4B9D66C6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518"/>
          </a:solidFill>
          <a:ln xmlns:a="http://schemas.openxmlformats.org/drawingml/2006/main" w="9525">
            <a:solidFill>
              <a:srgbClr val="7A35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4F7C9-1F32-4EEB-81EF-06CDDF0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81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11B"/>
                </a:solidFill>
              </a:defRPr>
            </a:pPr>
            <a:r>
              <a:rPr sz="1050" b="1">
                <a:solidFill>
                  <a:srgbClr val="2B211B"/>
                </a:solidFill>
              </a:rPr>
              <a:t>Cacao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41C0C-BC21-49A5-9127-BFC1D44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C9B2E-424D-42AD-980A-84E725F1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11B"/>
                </a:solidFill>
              </a:defRPr>
            </a:pPr>
            <a:r>
              <a:rPr sz="1050" b="1">
                <a:solidFill>
                  <a:srgbClr val="2B211B"/>
                </a:solidFill>
              </a:rPr>
              <a:t>Palm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F5222-B2DC-4DD4-9FEF-AC9B0D97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52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3C8F5-A33A-48B8-9961-94F2908B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11B"/>
                </a:solidFill>
              </a:defRPr>
            </a:pPr>
            <a:r>
              <a:rPr sz="1050" b="1">
                <a:solidFill>
                  <a:srgbClr val="2B211B"/>
                </a:solidFill>
              </a:rPr>
              <a:t>Brass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E99B3-6CE0-405E-9472-2C406E31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D4BD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2B432-1BEB-403F-A503-6552FAED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81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11B"/>
                </a:solidFill>
              </a:defRPr>
            </a:pPr>
            <a:r>
              <a:rPr sz="1050" b="1">
                <a:solidFill>
                  <a:srgbClr val="2B211B"/>
                </a:solidFill>
              </a:rPr>
              <a:t>Sand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A1B75-31A3-4FC1-B379-F74056F8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52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FBF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06EDC-E689-47DF-B9C4-4482D6F4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81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11B"/>
                </a:solidFill>
              </a:defRPr>
            </a:pPr>
            <a:r>
              <a:rPr sz="1050" b="1">
                <a:solidFill>
                  <a:srgbClr val="2B211B"/>
                </a:solidFill>
              </a:rPr>
              <a:t>Cream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43DDC-4F8B-4581-87E9-A782897C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29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3518"/>
                </a:solidFill>
              </a:defRPr>
            </a:pPr>
            <a:r>
              <a:rPr sz="2100" b="1">
                <a:solidFill>
                  <a:srgbClr val="7A3518"/>
                </a:solidFill>
              </a:rPr>
              <a:t>Cormorant Garamond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BE9E1-29B6-46E9-971B-47291AAC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48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Emotional headings and signature moments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E4F3B-C669-4148-9704-E5482B84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29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D45"/>
                </a:solidFill>
              </a:defRPr>
            </a:pPr>
            <a:r>
              <a:rPr sz="1800" b="1">
                <a:solidFill>
                  <a:srgbClr val="2F5D45"/>
                </a:solidFill>
              </a:rPr>
              <a:t>Manrope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624C6-0EE4-4852-89C2-8D2B3A5F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48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Navigation, forms, schedules, prices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E0A58-2A20-4DBF-AA0E-0B2E8725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Casa Paraiso ·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1796107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A5626-68C8-439D-BF0E-930AF304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CUSTOMER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C3040-7CAD-4195-BC84-28137C11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One continuous journey keeps booking decisions understandable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EDA53-4D32-42EA-9A15-47DF7D37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D8EF-75CC-4CB3-9ACB-CCCB5005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C9EA5-B951-41D0-9F5C-719B5EEF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813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71705-7F34-40C1-B3CA-19894960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60A59-F1E0-466E-AE4E-F62DA3E0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81350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78B95-EF26-46A7-B930-B9216F06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2400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3F951-CABD-40D1-AF27-7FBDD2FB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51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4FE1C-A7A3-4DC3-BB84-F3B9D5EC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7DAD2-5A27-4832-8FC8-430C3CC3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B"/>
                </a:solidFill>
              </a:defRPr>
            </a:pPr>
            <a:r>
              <a:rPr sz="1725" b="1">
                <a:solidFill>
                  <a:srgbClr val="2B211B"/>
                </a:solidFill>
              </a:rPr>
              <a:t>Choose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DE5D8-2CEC-48A7-99DD-10317740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259"/>
                </a:solidFill>
              </a:defRPr>
            </a:pPr>
            <a:r>
              <a:rPr sz="1200" b="0">
                <a:solidFill>
                  <a:srgbClr val="6F6259"/>
                </a:solidFill>
              </a:rPr>
              <a:t>Compare package, price, and duration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7045F-0562-4C34-9125-D38826DB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09800"/>
            <a:ext cx="1809750" cy="2400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9F7C8-0D81-425D-8385-98841C7B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00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04160-2C6C-478A-85AC-86E176B0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FF2FE-BB37-4496-8F69-11FD6DC5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86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B"/>
                </a:solidFill>
              </a:defRPr>
            </a:pPr>
            <a:r>
              <a:rPr sz="1725" b="1">
                <a:solidFill>
                  <a:srgbClr val="2B211B"/>
                </a:solidFill>
              </a:rPr>
              <a:t>Personalize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B0FA5-A9FD-4749-9658-4E948636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004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259"/>
                </a:solidFill>
              </a:defRPr>
            </a:pPr>
            <a:r>
              <a:rPr sz="1200" b="0">
                <a:solidFill>
                  <a:srgbClr val="6F6259"/>
                </a:solidFill>
              </a:rPr>
              <a:t>Select style, treatment, and extras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6F197-A04B-4842-A75D-703EA434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1809750" cy="2400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80E0A-8F16-4E05-89A9-B0D4CF60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51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84668-2559-418E-8E59-38FB55C0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C3C0A-CBC2-40E7-9342-3E55C32E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B"/>
                </a:solidFill>
              </a:defRPr>
            </a:pPr>
            <a:r>
              <a:rPr sz="1725" b="1">
                <a:solidFill>
                  <a:srgbClr val="2B211B"/>
                </a:solidFill>
              </a:rPr>
              <a:t>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1D4F6-817F-4F60-9E86-2B9EB22D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259"/>
                </a:solidFill>
              </a:defRPr>
            </a:pPr>
            <a:r>
              <a:rPr sz="1200" b="0">
                <a:solidFill>
                  <a:srgbClr val="6F6259"/>
                </a:solidFill>
              </a:rPr>
              <a:t>Pick a valid Manila-time slot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34D8E-7507-4B7C-93EB-E201812A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09800"/>
            <a:ext cx="1809750" cy="2400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5186F-10A6-4F0B-B009-C488BB3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00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A032B-92C8-4750-AB19-A5982F79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AAF7E-2B2E-403D-9961-F93D514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86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B"/>
                </a:solidFill>
              </a:defRPr>
            </a:pPr>
            <a:r>
              <a:rPr sz="1725" b="1">
                <a:solidFill>
                  <a:srgbClr val="2B211B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A5A7D-09EF-4EEB-A425-8D873DA1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004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259"/>
                </a:solidFill>
              </a:defRPr>
            </a:pPr>
            <a:r>
              <a:rPr sz="1200" b="0">
                <a:solidFill>
                  <a:srgbClr val="6F6259"/>
                </a:solidFill>
              </a:rPr>
              <a:t>Check details, duration, total, and consent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26B32D-730A-4290-8F55-4E66F8A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809750" cy="24003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4CA72F-A932-4961-B04C-909E9C73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51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C5E9E8-40ED-4D20-A40E-74EB6E96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DDEA7B-B1BE-4EED-AEDC-45116EC7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86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11B"/>
                </a:solidFill>
              </a:defRPr>
            </a:pPr>
            <a:r>
              <a:rPr sz="1725" b="1">
                <a:solidFill>
                  <a:srgbClr val="2B211B"/>
                </a:solidFill>
              </a:rPr>
              <a:t>Manage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2DFC5-AB75-44DF-BA9C-D7241233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259"/>
                </a:solidFill>
              </a:defRPr>
            </a:pPr>
            <a:r>
              <a:rPr sz="1200" b="0">
                <a:solidFill>
                  <a:srgbClr val="6F6259"/>
                </a:solidFill>
              </a:rPr>
              <a:t>Reschedule or cancel before start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6AED8-D53B-4CFF-A826-1CDB4770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57800"/>
            <a:ext cx="853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3518"/>
                </a:solidFill>
              </a:defRPr>
            </a:pPr>
            <a:r>
              <a:rPr sz="1650" b="1">
                <a:solidFill>
                  <a:srgbClr val="7A3518"/>
                </a:solidFill>
              </a:rPr>
              <a:t>Every transition preserves context; no login, payment form, or hidden server state interrupts the flow.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EBDB9D-6216-4594-A0F1-457E448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Casa Paraiso ·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953011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EEBF9-7EF1-465F-B203-F3A088CF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SERVICE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31838-4BBA-4BAE-9B0A-F1324563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A small catalog still supports meaningful 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615C3-D1DF-41A3-8FC1-7A071A6D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3C598-19B2-4D13-8094-D15F148E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76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7C5C7-F364-4701-9678-2CE48338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D9FD7-0D00-48CD-9AE5-134C88FF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7640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1C4CF-CFFF-4BE4-BDD6-2151E1F8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19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400CD-4645-4D5C-BFE8-709B6B32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7640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16383-0E58-4495-A170-F1A43A76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19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0FE9C-7476-44EF-A00A-974301FA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76400"/>
            <a:ext cx="4819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32DB5-4274-4D61-8EFE-AD6C7CD4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19275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Included treatment 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3608D-19F6-4840-8EE8-18DF52A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762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7C8FF-153D-40B9-8033-A3F41D1C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Gaia Touch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55451-1A09-44BB-8671-00838E36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FEDF5-9907-4FA2-BAF6-5AA7D162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812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3518"/>
                </a:solidFill>
              </a:defRPr>
            </a:pPr>
            <a:r>
              <a:rPr sz="1200" b="1">
                <a:solidFill>
                  <a:srgbClr val="7A3518"/>
                </a:solidFill>
              </a:rPr>
              <a:t>₱499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0C288-4590-4D79-A72A-33506624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01E9F-7F54-4A92-9639-EAFF8823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812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60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28135-73F0-401C-B350-FD34F10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1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8B441-77D7-4D91-9D2B-83386759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Massage 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898A5-A82F-486D-8CD1-13AA721E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762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66D75-EEC7-4B93-BB22-D4742DB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Tethys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2F792-B393-45D9-BAA6-891FDBA0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C126B-F794-4360-ADF6-65CA88F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861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3518"/>
                </a:solidFill>
              </a:defRPr>
            </a:pPr>
            <a:r>
              <a:rPr sz="1200" b="1">
                <a:solidFill>
                  <a:srgbClr val="7A3518"/>
                </a:solidFill>
              </a:rPr>
              <a:t>₱649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7A2E1-B3A7-4351-8FD0-603A99FE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A8021-CBB9-430C-8128-FF95E4E2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861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60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3CDD8-BBE0-4EAF-8F8C-8814447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481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AD76B-A706-450F-97A0-AFEC449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Ventosa / Hot Compress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A6CF12-8D72-471E-A4B4-604118B8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762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964C2-A5BE-4F15-9B25-344A165E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Hestia Warmth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CA271-278A-4900-B70A-EF5EA37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407754-3CC6-4959-91C1-699EF46A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909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3518"/>
                </a:solidFill>
              </a:defRPr>
            </a:pPr>
            <a:r>
              <a:rPr sz="1200" b="1">
                <a:solidFill>
                  <a:srgbClr val="7A3518"/>
                </a:solidFill>
              </a:rPr>
              <a:t>₱749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1F62E-1DDC-46DA-8F63-4BEEF3A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045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2B04C-7D2E-435A-88E5-D7EFC72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90 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5F26F9-321B-4923-B7B8-2448751C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0450"/>
            <a:ext cx="481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476F3D-CDA9-4360-AB60-2B78D11C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Ventosa / Hot Stone / Hot Compress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E1C41A-83B3-4D7F-8D41-F948D883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762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06EF61-0138-4EB5-BB1B-55D80CD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Aurora Breeze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9DA412-AF5B-4DD7-85BE-6F49ED7C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3F990F-09D0-4CFB-9262-16A1AF04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958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3518"/>
                </a:solidFill>
              </a:defRPr>
            </a:pPr>
            <a:r>
              <a:rPr sz="1200" b="1">
                <a:solidFill>
                  <a:srgbClr val="7A3518"/>
                </a:solidFill>
              </a:rPr>
              <a:t>₱849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2E1D47-CE5D-45B3-AC5E-2F38B1B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05300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339E8E-51D8-4CEC-B22C-22A4709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958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120 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7C07E0-2148-4D72-AAB9-565418BE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4819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405274-FF29-4DD8-BE38-4B5C6BC1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Ventosa / Hot Compress / Hot Stone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9FF4C6-A509-42D4-BB75-31813E3D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3E2D8"/>
          </a:solidFill>
          <a:ln xmlns:a="http://schemas.openxmlformats.org/drawingml/2006/main" w="9525">
            <a:solidFill>
              <a:srgbClr val="F3E2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07479D-6AB2-4F70-94D0-DD4244E4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3518"/>
                </a:solidFill>
              </a:defRPr>
            </a:pPr>
            <a:r>
              <a:rPr sz="1350" b="1">
                <a:solidFill>
                  <a:srgbClr val="7A3518"/>
                </a:solidFill>
              </a:rPr>
              <a:t>Optional extras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44716D-1ABF-4FC1-8C16-F44AC106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48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30-minute Back Massage · ₱298 · adds 30 minutes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DE68A8-9BCE-4EE6-81B2-AD875DB6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48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VIP Room · ₱200 · no added time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926774-68DD-47E8-9057-91D1FF53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Casa Paraiso ·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1864006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937BD-68A9-4940-AC12-F2BCF312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A2A5F-3C75-4271-8AC8-C8AE51E3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Replaceable boundaries keep a future backend migration practical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4A4EF-7488-4B08-B37C-5E4C8368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4373F-1DAE-4B32-AD40-42428F6B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955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31C8F-ED97-4B6B-80A8-DBE33F06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955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7B06A-9506-4B05-938E-EF05E39C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1B89E-7FA9-420E-932C-C4EFF6AA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solidFill>
              <a:srgbClr val="A982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4F0BD-D015-4CEF-86AB-BB1EB7B8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238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40D02-28E5-4F13-9A64-58382B9A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3518"/>
                </a:solidFill>
              </a:defRPr>
            </a:pPr>
            <a:r>
              <a:rPr sz="1575" b="1">
                <a:solidFill>
                  <a:srgbClr val="7A3518"/>
                </a:solidFill>
              </a:rPr>
              <a:t>Feature screens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CCE7D-0988-4884-9A1A-631DF63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895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Onboarding · Home · Services</a:t>
            </a:r>
          </a:p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Booking · History ·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1B934-F457-4E0F-BC84-B596238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81200"/>
            <a:ext cx="2533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AF1D0-34C7-41AA-9A97-C350B24B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71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3518"/>
                </a:solidFill>
              </a:defRPr>
            </a:pPr>
            <a:r>
              <a:rPr sz="1575" b="1">
                <a:solidFill>
                  <a:srgbClr val="7A3518"/>
                </a:solidFill>
              </a:rPr>
              <a:t>Riverpod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A74A8-3DA2-4746-83D4-9910398A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289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AppController coordinates</a:t>
            </a:r>
          </a:p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local state and side effects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F9903-E719-45D9-B6B4-3DE4CBDE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81200"/>
            <a:ext cx="24479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9710A-DA79-4486-A56B-336E49C4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7170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3518"/>
                </a:solidFill>
              </a:defRPr>
            </a:pPr>
            <a:r>
              <a:rPr sz="1575" b="1">
                <a:solidFill>
                  <a:srgbClr val="7A3518"/>
                </a:solidFill>
              </a:rPr>
              <a:t>Business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EC2CD-F80D-4710-8C01-C8BCCF16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6289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Pricing · Availability</a:t>
            </a:r>
          </a:p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Validation · Manila timezone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E44BF-8DE4-4F52-8266-B079479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1752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E2D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34906-2164-40A5-BD2A-060A57F7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288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3518"/>
                </a:solidFill>
              </a:defRPr>
            </a:pPr>
            <a:r>
              <a:rPr sz="1575" b="1">
                <a:solidFill>
                  <a:srgbClr val="7A3518"/>
                </a:solidFill>
              </a:rPr>
              <a:t>Bundled catalog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91E0C-7915-4786-8933-0F30A4FB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Versioned JSON</a:t>
            </a:r>
          </a:p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and asset snapshots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FEC84-5A7B-4D9F-93AF-96DDF58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752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1B201-1676-4BC4-A6F8-8779F43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33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3518"/>
                </a:solidFill>
              </a:defRPr>
            </a:pPr>
            <a:r>
              <a:rPr sz="1575" b="1">
                <a:solidFill>
                  <a:srgbClr val="7A3518"/>
                </a:solidFill>
              </a:rPr>
              <a:t>Local adapters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83874-C95D-4C63-B5B9-58A9D2CA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909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SharedPreferences</a:t>
            </a:r>
          </a:p>
          <a:p xmlns:a="http://schemas.openxmlformats.org/drawingml/2006/main">
            <a:pPr algn="l">
              <a:defRPr sz="1050" b="0">
                <a:solidFill>
                  <a:srgbClr val="6F6259"/>
                </a:solidFill>
              </a:defRPr>
            </a:pPr>
            <a:r>
              <a:rPr sz="1050" b="0">
                <a:solidFill>
                  <a:srgbClr val="6F6259"/>
                </a:solidFill>
              </a:rPr>
              <a:t>Android reminders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4E46A-8406-42AC-8D3B-34BE6B4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18E74-B4DD-4D2C-B030-8F0E0A15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Production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BA591-66CD-42F3-A178-60CC96DB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Swap repository and notification implementations for authenticated remote services—without rebuilding the customer experience.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62D9F-29C4-4C32-95BB-586BD8B3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Casa Paraiso ·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1648152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DB830-1B52-41F3-912A-A5DA84CD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BOOKING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EC2EA-F0AB-4059-9D3B-C35C9C0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Local-first rules are explicit about what the prototype can guarantee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6EDF-1E0A-4128-9996-AAEA8CDD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0F6F4-C208-41A2-A237-1EE24A5C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9544E-033E-4714-AA7F-7A77FBBF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A3518"/>
                </a:solidFill>
              </a:defRPr>
            </a:pPr>
            <a:r>
              <a:rPr sz="2025" b="1">
                <a:solidFill>
                  <a:srgbClr val="7A3518"/>
                </a:solidFill>
              </a:rPr>
              <a:t>Scheduling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489B6-29A4-4559-A1C3-F6828E80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4C36D-EC62-4F30-A728-94DBA23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Asia/Manila business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EF4BB-CB6F-41AD-85D1-BC8D7A3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40B96-19D1-4E12-BEDC-CA45587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Daily 1:00 PM–1:00 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1FFF2-D5B3-4636-A552-5FA9BE1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08CE2-65EC-4EBE-92E9-87F23AA9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30-minute starts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58BDC-22D6-42F3-A398-D07A7516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863E9-0129-4BFE-B688-59306AE0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1-hour lead · 30-day horizon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282E6-E913-4DF3-AB79-4EDF264E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7EEBA-D3DF-428B-AD04-4812D17C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A3518"/>
                </a:solidFill>
              </a:defRPr>
            </a:pPr>
            <a:r>
              <a:rPr sz="2025" b="1">
                <a:solidFill>
                  <a:srgbClr val="7A3518"/>
                </a:solidFill>
              </a:rPr>
              <a:t>Data and consent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46C09-BEE7-44D6-AA32-5EF9F394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6C77E-F88B-4DF3-A79E-8D565A7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Separate versioned payloads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AE2A1-2192-4EB1-9AA7-CD20346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753B4-1E4D-456F-9358-95057042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Service snapshots preserve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8F632-51EC-450A-B311-4E1E44E4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8D441-69D1-4893-A21A-491B84A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Malformed data resets selectively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CFF8D-C575-4C3A-B80A-3870A9E2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69D54-1D17-4E16-B1B1-56908EF9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57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Confirmed reset clears all local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1DD3F-B3A2-4277-9252-283E1466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E2D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0E550-3F3C-4595-9F8A-AA23713F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A3518"/>
                </a:solidFill>
              </a:defRPr>
            </a:pPr>
            <a:r>
              <a:rPr sz="2025" b="1">
                <a:solidFill>
                  <a:srgbClr val="7A3518"/>
                </a:solidFill>
              </a:rPr>
              <a:t>Honest limitations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E1D7B-2969-4995-A2F6-21223292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127B4-8A82-415D-9354-1BF9FD48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No shared spa capacity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366C2-88C0-4ABD-AE08-ED751CCF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304A3-BCA2-4BC7-8B1B-5AFAB45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No cross-device synchronization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31867E-3267-4A23-A801-906BC46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66D0D-233D-400A-9E30-6EB681A7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No online payment or account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57927F-BB5A-4CA7-AEEA-75722DF5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D45"/>
          </a:solidFill>
          <a:ln xmlns:a="http://schemas.openxmlformats.org/drawingml/2006/main" w="9525">
            <a:solidFill>
              <a:srgbClr val="2F5D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A10EA-BBA3-49AA-BA82-C9A33532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11B"/>
                </a:solidFill>
              </a:defRPr>
            </a:pPr>
            <a:r>
              <a:rPr sz="1200" b="0">
                <a:solidFill>
                  <a:srgbClr val="2B211B"/>
                </a:solidFill>
              </a:rPr>
              <a:t>Web reminders only while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8FA310-91D8-448F-9D83-CED4026B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Confirmation is local; customers should contact the spa for real operational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02132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F81A1-3BFC-47C2-974B-D5637254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A2836-C0AE-4874-BBF6-CE12097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Automated checks and responsive inspection support the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E1560-2B0E-4F35-A94E-A1BEBC8D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9045770cc488d"/>
          <a:stretch xmlns:a="http://schemas.openxmlformats.org/drawingml/2006/main"/>
        </p:blipFill>
        <p:spPr>
          <a:xfrm xmlns:a="http://schemas.openxmlformats.org/drawingml/2006/main">
            <a:off x="685800" y="1737985"/>
            <a:ext cx="6286500" cy="3534430"/>
          </a:xfrm>
          <a:prstGeom xmlns:a="http://schemas.openxmlformats.org/drawingml/2006/main" prst="roundRect">
            <a:avLst>
              <a:gd name="adj" fmla="val 430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8DD9B-75E2-4900-BA37-73B85C69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33550"/>
            <a:ext cx="4057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747B-E179-4CB7-AF51-449736FC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47850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7A3518"/>
                </a:solidFill>
              </a:defRPr>
            </a:pPr>
            <a:r>
              <a:rPr sz="3450" b="1">
                <a:solidFill>
                  <a:srgbClr val="7A3518"/>
                </a:solidFill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86ED2-CE61-4C2C-8684-CD5D308A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11B"/>
                </a:solidFill>
              </a:defRPr>
            </a:pPr>
            <a:r>
              <a:rPr sz="1350" b="1">
                <a:solidFill>
                  <a:srgbClr val="2B211B"/>
                </a:solidFill>
              </a:rPr>
              <a:t>automated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F13ED-76C7-439B-8291-F66DB720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4057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B3951-5CC8-4772-9075-FAD4FE97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F5D45"/>
                </a:solidFill>
              </a:defRPr>
            </a:pPr>
            <a:r>
              <a:rPr sz="3450" b="1">
                <a:solidFill>
                  <a:srgbClr val="2F5D45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317E2-54CE-4B6B-A05A-8306697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11B"/>
                </a:solidFill>
              </a:defRPr>
            </a:pPr>
            <a:r>
              <a:rPr sz="1350" b="1">
                <a:solidFill>
                  <a:srgbClr val="2B211B"/>
                </a:solidFill>
              </a:rPr>
              <a:t>analyzer issues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0C18A-2E8E-44D7-9B5E-D4BC7ADC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4057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F4503-6475-4E8E-ACEE-A18C6B7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57650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7A3518"/>
                </a:solidFill>
              </a:defRPr>
            </a:pPr>
            <a:r>
              <a:rPr sz="3450" b="1">
                <a:solidFill>
                  <a:srgbClr val="7A351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AA787-FCE9-4B16-A34E-A791AE8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11B"/>
                </a:solidFill>
              </a:defRPr>
            </a:pPr>
            <a:r>
              <a:rPr sz="1350" b="1">
                <a:solidFill>
                  <a:srgbClr val="2B211B"/>
                </a:solidFill>
              </a:rPr>
              <a:t>validated navigation modes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FCC86-9EDA-4649-920C-CF74980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19700"/>
            <a:ext cx="405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259"/>
                </a:solidFill>
              </a:defRPr>
            </a:pPr>
            <a:r>
              <a:rPr sz="1200" b="0">
                <a:solidFill>
                  <a:srgbClr val="6F6259"/>
                </a:solidFill>
              </a:rPr>
              <a:t>Release web build compiled with the GitHub Pages base path. Android release APK built successfully with the explicit Flutter entry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4032B-7ED7-4E34-8F8E-DFD9681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Casa Paraiso ·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824341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55064-7EB0-4499-87B9-EB564452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45"/>
                </a:solidFill>
              </a:defRPr>
            </a:pPr>
            <a:r>
              <a:rPr sz="1050" b="1">
                <a:solidFill>
                  <a:srgbClr val="2F5D45"/>
                </a:solidFill>
              </a:rPr>
              <a:t>SCOPE AND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C2C45-2023-423E-85D2-7AF66202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11B"/>
                </a:solidFill>
              </a:defRPr>
            </a:pPr>
            <a:r>
              <a:rPr sz="2850" b="1">
                <a:solidFill>
                  <a:srgbClr val="2B211B"/>
                </a:solidFill>
              </a:rPr>
              <a:t>The prototype proves the experience—not shared spa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1EC7B-1C3D-45BB-B166-CE76CB93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259"/>
                </a:solidFill>
              </a:defRPr>
            </a:pPr>
            <a:r>
              <a:rPr sz="1050" b="1">
                <a:solidFill>
                  <a:srgbClr val="6F6259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364D5-F307-4850-98DB-C9E55D9F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8577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3E2D8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AAF85-505D-4634-A6CA-AB848574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A3518"/>
                </a:solidFill>
              </a:defRPr>
            </a:pPr>
            <a:r>
              <a:rPr sz="2175" b="1">
                <a:solidFill>
                  <a:srgbClr val="7A3518"/>
                </a:solidFill>
              </a:rPr>
              <a:t>What works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3A372-CB31-4B91-97A2-23DF4D87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45"/>
                </a:solidFill>
              </a:defRPr>
            </a:pPr>
            <a:r>
              <a:rPr sz="1500" b="1">
                <a:solidFill>
                  <a:srgbClr val="2F5D45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0995F-C818-4DDE-9AB6-535E9B71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Bilingual service 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D44F9-0E49-46CC-A262-47ED23E4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45"/>
                </a:solidFill>
              </a:defRPr>
            </a:pPr>
            <a:r>
              <a:rPr sz="1500" b="1">
                <a:solidFill>
                  <a:srgbClr val="2F5D45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EE3D2-4DAC-41BA-A423-1D8C14C8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Validated local appointment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6CBAF-6C6A-4661-861E-EADB497E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45"/>
                </a:solidFill>
              </a:defRPr>
            </a:pPr>
            <a:r>
              <a:rPr sz="1500" b="1">
                <a:solidFill>
                  <a:srgbClr val="2F5D45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00284-DDAB-4E2D-8902-8DE2863C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Persistent profile and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BB61E-10ED-4A05-86B2-097707A0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45"/>
                </a:solidFill>
              </a:defRPr>
            </a:pPr>
            <a:r>
              <a:rPr sz="1500" b="1">
                <a:solidFill>
                  <a:srgbClr val="2F5D45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914FB-61A5-48E0-BE32-7151C301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Responsive Android/web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AA0D1-58ED-4402-9DBE-02F02752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45"/>
                </a:solidFill>
              </a:defRPr>
            </a:pPr>
            <a:r>
              <a:rPr sz="1500" b="1">
                <a:solidFill>
                  <a:srgbClr val="2F5D45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EDDC5-F246-47A0-9A50-7452B41F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Android reminders and contact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841C2-FB22-49C6-A20B-D717B9E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54864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E4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1E3EE-8DDC-4317-8F33-22C5FCE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5D45"/>
                </a:solidFill>
              </a:defRPr>
            </a:pPr>
            <a:r>
              <a:rPr sz="2175" b="1">
                <a:solidFill>
                  <a:srgbClr val="2F5D45"/>
                </a:solidFill>
              </a:rPr>
              <a:t>What production requires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DC06F-4D28-4D87-92D5-410B53B6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3518"/>
                </a:solidFill>
              </a:defRPr>
            </a:pPr>
            <a:r>
              <a:rPr sz="1125" b="1">
                <a:solidFill>
                  <a:srgbClr val="7A3518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7C494-ADF7-4B09-914C-91F1252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Shared source of availability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863F6-BE6F-4668-AF77-F1656E6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3518"/>
                </a:solidFill>
              </a:defRPr>
            </a:pPr>
            <a:r>
              <a:rPr sz="1125" b="1">
                <a:solidFill>
                  <a:srgbClr val="7A351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FFB9F-D9DA-42BD-8D0C-088DDDDB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Authenticated customer and staff roles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5582C-5120-4E64-B3A8-5E5F20FD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3518"/>
                </a:solidFill>
              </a:defRPr>
            </a:pPr>
            <a:r>
              <a:rPr sz="1125" b="1">
                <a:solidFill>
                  <a:srgbClr val="7A3518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73874-4792-4943-B504-9033F14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Server-authoritative confirmation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45F8C-6F07-49FE-9DBE-974C73E7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3518"/>
                </a:solidFill>
              </a:defRPr>
            </a:pPr>
            <a:r>
              <a:rPr sz="1125" b="1">
                <a:solidFill>
                  <a:srgbClr val="7A3518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C1D45-0B16-467C-A41C-48F1BC9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Payment and notification infrastructure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E4BB2-6996-4192-9598-DAC15EB3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3518"/>
                </a:solidFill>
              </a:defRPr>
            </a:pPr>
            <a:r>
              <a:rPr sz="1125" b="1">
                <a:solidFill>
                  <a:srgbClr val="7A3518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207DD-262E-405B-AA0F-E8EFAB4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11B"/>
                </a:solidFill>
              </a:defRPr>
            </a:pPr>
            <a:r>
              <a:rPr sz="1350" b="0">
                <a:solidFill>
                  <a:srgbClr val="2B211B"/>
                </a:solidFill>
              </a:rPr>
              <a:t>Operational security, audit, and privacy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A5AC9-DF14-4F5C-9003-5F22020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259"/>
                </a:solidFill>
              </a:defRPr>
            </a:pPr>
            <a:r>
              <a:rPr sz="825" b="0">
                <a:solidFill>
                  <a:srgbClr val="6F6259"/>
                </a:solidFill>
              </a:rPr>
              <a:t>Casa Paraiso · 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428529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F5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0CE556-7A48-4B1F-A9DC-5A6732B3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Casa Paraiso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E6CC-E041-4067-9111-0579A490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calm customer experience, backed by clear local rules.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D2C48-81A6-482D-BA38-66861AF1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E41C2-A873-4032-B04A-35CE4627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Browse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DA1EF-FC16-4965-9D6E-AA5F3D34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EF73F-6770-48BB-AF08-51B47581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Personalize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78B4-61E8-412A-85D8-D59A539D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48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27B2-C90B-4313-AD78-EEEE9BFD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3D113-E500-4686-9C76-C59C850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3BE51-364B-4FBA-801A-A4C3A7EB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B"/>
                </a:solidFill>
              </a:defRPr>
            </a:pPr>
            <a:r>
              <a:rPr sz="1500" b="1">
                <a:solidFill>
                  <a:srgbClr val="2B211B"/>
                </a:solidFill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01288-6BDE-4C3A-991E-B3C9541C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A9824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EE386-47CC-4FD9-94C9-E00A8DD5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Manage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1860A-9EA6-40BA-9098-84019276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Casa Paraiso Body &amp; Wellness Spa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09D62-7D72-4258-A090-469499E3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Barangay Cuta East, Santa Teresita, Batangas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In front of Alfamart and PLDT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272FC-FE72-4F8D-9487-34E0D0F3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4D4BD"/>
                </a:solidFill>
              </a:defRPr>
            </a:pPr>
            <a:r>
              <a:rPr sz="825" b="0">
                <a:solidFill>
                  <a:srgbClr val="E4D4BD"/>
                </a:solidFill>
              </a:rPr>
              <a:t>Source: supplied brand/menu assets and the implemented project’s verified documentation and test evidence.</a:t>
            </a:r>
          </a:p>
        </p:txBody>
      </p:sp>
    </p:spTree>
    <p:extLst>
      <p:ext uri="{BB962C8B-B14F-4D97-AF65-F5344CB8AC3E}">
        <p14:creationId xmlns:p14="http://schemas.microsoft.com/office/powerpoint/2010/main" val="260213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2026-07-15T15:19:10.4770000Z</dcterms:created>
  <dcterms:modified xsi:type="dcterms:W3CDTF">2026-07-15T15:19:10.4780000Z</dcterms:modified>
</coreProperties>
</file>